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3886200"/>
          </a:xfrm>
          <a:prstGeom prst="rect">
            <a:avLst/>
          </a:prstGeom>
          <a:solidFill>
            <a:srgbClr val="3B1B18"/>
          </a:solidFill>
          <a:ln w="10160">
            <a:solidFill>
              <a:srgbClr val="3B1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0" cy="164592"/>
          </a:xfrm>
          <a:prstGeom prst="rect">
            <a:avLst/>
          </a:prstGeom>
          <a:solidFill>
            <a:srgbClr val="D7A95A"/>
          </a:solidFill>
          <a:ln w="10160">
            <a:solidFill>
              <a:srgbClr val="D7A9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502920"/>
            <a:ext cx="2971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Early-Warning Prediction of Asthma Exacerbations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" y="1627632"/>
            <a:ext cx="1965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E9D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wearable and digital-health data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143000" y="2267712"/>
            <a:ext cx="2514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Bahaa Hamdan  |  Tarek El Moura  |  Anthony John Kanaan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1143000" y="2788920"/>
            <a:ext cx="2240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DC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EECE 693 Neural Networks / Deep Learning - Spring 2026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3009840" y="585216"/>
            <a:ext cx="960120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12760" y="777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17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073080" y="80467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1B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American University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1C1B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Beirut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3512760" y="1920240"/>
            <a:ext cx="8183880" cy="0"/>
          </a:xfrm>
          <a:prstGeom prst="line">
            <a:avLst/>
          </a:prstGeom>
          <a:noFill/>
          <a:ln w="12700">
            <a:solidFill>
              <a:srgbClr val="DED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12760" y="2130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70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AAMOS-00 asthma monitoring dataset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960120" y="4251960"/>
            <a:ext cx="419709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498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3320" y="4370832"/>
            <a:ext cx="29443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C1B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built a patient-safe early-warning pipeline that predicts pre-exacerbation risk from multimodal historical signals. The best held-out signal was promising, but statistically fragile because the test set contained only four positive events.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34930080" y="444398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4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deployment-ready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930080" y="478231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70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larger prospective validation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60120" y="5897880"/>
            <a:ext cx="12024360" cy="56692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3970">
            <a:solidFill>
              <a:srgbClr val="DED4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7592" y="6153912"/>
            <a:ext cx="11329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TASK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307592" y="6473952"/>
            <a:ext cx="11329416" cy="0"/>
          </a:xfrm>
          <a:prstGeom prst="line">
            <a:avLst/>
          </a:prstGeom>
          <a:noFill/>
          <a:ln w="15240">
            <a:solidFill>
              <a:srgbClr val="D7A9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53312" y="6492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B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53312" y="6876288"/>
            <a:ext cx="10927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upcoming asthma exacerbation risk before clinically meaningful worsening, using only historical data available before onset.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1353312" y="8065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B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hard?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8485632"/>
            <a:ext cx="10332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0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 positives: event windows are sparse.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8979408"/>
            <a:ext cx="10332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0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Patient-specific baselines and triggers.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9473184"/>
            <a:ext cx="10332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0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Missingness reflects behavior, adherence, charging, and device dropout.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53312" y="10369296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F1E8DF"/>
          </a:solidFill>
          <a:ln w="12700">
            <a:solidFill>
              <a:srgbClr val="F1E8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1056132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selection metric: validation PR-AUC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60120" y="11978640"/>
            <a:ext cx="12024360" cy="7223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3970">
            <a:solidFill>
              <a:srgbClr val="DED4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07592" y="12234672"/>
            <a:ext cx="11329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LABELS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307592" y="12554712"/>
            <a:ext cx="11329416" cy="0"/>
          </a:xfrm>
          <a:prstGeom prst="line">
            <a:avLst/>
          </a:prstGeom>
          <a:noFill/>
          <a:ln w="15240">
            <a:solidFill>
              <a:srgbClr val="D7A9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3312" y="1260043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C1B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AAMOS-00 multimodal sources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1417320" y="130302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Smartwatch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4160520" y="13030200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rate, steps, activity, intensity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1417320" y="135056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inhaler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4160520" y="13505688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reliever medication timestamps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1417320" y="139811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flow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4160520" y="13981176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PEF readings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1417320" y="144566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Questionnaires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4160520" y="14456664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/ weekly symptom evidence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1417320" y="14932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4160520" y="14932152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and exposure context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1417320" y="15407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info</a:t>
            </a:r>
            <a:endParaRPr lang="en-US" sz="870" dirty="0"/>
          </a:p>
        </p:txBody>
      </p:sp>
      <p:sp>
        <p:nvSpPr>
          <p:cNvPr id="44" name="Text 42"/>
          <p:cNvSpPr/>
          <p:nvPr/>
        </p:nvSpPr>
        <p:spPr>
          <a:xfrm>
            <a:off x="4160520" y="15407640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demographic / clinical descriptors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1353312" y="16002000"/>
            <a:ext cx="10853928" cy="0"/>
          </a:xfrm>
          <a:prstGeom prst="line">
            <a:avLst/>
          </a:prstGeom>
          <a:noFill/>
          <a:ln w="10160">
            <a:solidFill>
              <a:srgbClr val="DED4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53312" y="163220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C1B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Event-episode labeling</a:t>
            </a:r>
            <a:endParaRPr lang="en-US" sz="1070" dirty="0"/>
          </a:p>
        </p:txBody>
      </p:sp>
      <p:sp>
        <p:nvSpPr>
          <p:cNvPr id="47" name="Text 45"/>
          <p:cNvSpPr/>
          <p:nvPr/>
        </p:nvSpPr>
        <p:spPr>
          <a:xfrm>
            <a:off x="1572768" y="16751808"/>
            <a:ext cx="10424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89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Positive: historical window immediately before probable event onset.</a:t>
            </a:r>
            <a:endParaRPr lang="en-US" sz="890" dirty="0"/>
          </a:p>
        </p:txBody>
      </p:sp>
      <p:sp>
        <p:nvSpPr>
          <p:cNvPr id="48" name="Text 46"/>
          <p:cNvSpPr/>
          <p:nvPr/>
        </p:nvSpPr>
        <p:spPr>
          <a:xfrm>
            <a:off x="1572768" y="17282160"/>
            <a:ext cx="10424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89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Negative: stable periods with no event/positive-week overlap.</a:t>
            </a:r>
            <a:endParaRPr lang="en-US" sz="890" dirty="0"/>
          </a:p>
        </p:txBody>
      </p:sp>
      <p:sp>
        <p:nvSpPr>
          <p:cNvPr id="49" name="Text 47"/>
          <p:cNvSpPr/>
          <p:nvPr/>
        </p:nvSpPr>
        <p:spPr>
          <a:xfrm>
            <a:off x="1572768" y="17812512"/>
            <a:ext cx="104241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89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Washout: post-event recovery days excluded from stable-negative sampling.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960120" y="19613880"/>
            <a:ext cx="12024360" cy="4709160"/>
          </a:xfrm>
          <a:prstGeom prst="roundRect">
            <a:avLst>
              <a:gd name="adj" fmla="val 3107"/>
            </a:avLst>
          </a:prstGeom>
          <a:solidFill>
            <a:srgbClr val="FFFFFF"/>
          </a:solidFill>
          <a:ln w="13970">
            <a:solidFill>
              <a:srgbClr val="DED4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07592" y="19869912"/>
            <a:ext cx="11329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GRID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1307592" y="20189952"/>
            <a:ext cx="11329416" cy="0"/>
          </a:xfrm>
          <a:prstGeom prst="line">
            <a:avLst/>
          </a:prstGeom>
          <a:noFill/>
          <a:ln w="15240">
            <a:solidFill>
              <a:srgbClr val="D7A95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53312" y="2020824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1E8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09344" y="203545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C1B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threshold</a:t>
            </a:r>
            <a:endParaRPr lang="en-US" sz="870" dirty="0"/>
          </a:p>
        </p:txBody>
      </p:sp>
      <p:sp>
        <p:nvSpPr>
          <p:cNvPr id="55" name="Text 53"/>
          <p:cNvSpPr/>
          <p:nvPr/>
        </p:nvSpPr>
        <p:spPr>
          <a:xfrm>
            <a:off x="6153912" y="2035454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2, 3, 4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1353312" y="20903184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BF8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09344" y="210494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C1B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length</a:t>
            </a:r>
            <a:endParaRPr lang="en-US" sz="870" dirty="0"/>
          </a:p>
        </p:txBody>
      </p:sp>
      <p:sp>
        <p:nvSpPr>
          <p:cNvPr id="58" name="Text 56"/>
          <p:cNvSpPr/>
          <p:nvPr/>
        </p:nvSpPr>
        <p:spPr>
          <a:xfrm>
            <a:off x="6153912" y="2104948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 7, 14 days</a:t>
            </a:r>
            <a:endParaRPr lang="en-US" sz="870" dirty="0"/>
          </a:p>
        </p:txBody>
      </p:sp>
      <p:sp>
        <p:nvSpPr>
          <p:cNvPr id="59" name="Shape 57"/>
          <p:cNvSpPr/>
          <p:nvPr/>
        </p:nvSpPr>
        <p:spPr>
          <a:xfrm>
            <a:off x="1353312" y="2159812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1E8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09344" y="217444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C1B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Washout</a:t>
            </a:r>
            <a:endParaRPr lang="en-US" sz="870" dirty="0"/>
          </a:p>
        </p:txBody>
      </p:sp>
      <p:sp>
        <p:nvSpPr>
          <p:cNvPr id="61" name="Text 59"/>
          <p:cNvSpPr/>
          <p:nvPr/>
        </p:nvSpPr>
        <p:spPr>
          <a:xfrm>
            <a:off x="6153912" y="217444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 7, 14 days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1353312" y="22293072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BF8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09344" y="224393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C1B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T3/L14/W14</a:t>
            </a:r>
            <a:endParaRPr lang="en-US" sz="870" dirty="0"/>
          </a:p>
        </p:txBody>
      </p:sp>
      <p:sp>
        <p:nvSpPr>
          <p:cNvPr id="64" name="Text 62"/>
          <p:cNvSpPr/>
          <p:nvPr/>
        </p:nvSpPr>
        <p:spPr>
          <a:xfrm>
            <a:off x="6153912" y="224393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 pos / 1,071 neg</a:t>
            </a:r>
            <a:endParaRPr lang="en-US" sz="870" dirty="0"/>
          </a:p>
        </p:txBody>
      </p:sp>
      <p:sp>
        <p:nvSpPr>
          <p:cNvPr id="65" name="Shape 63"/>
          <p:cNvSpPr/>
          <p:nvPr/>
        </p:nvSpPr>
        <p:spPr>
          <a:xfrm>
            <a:off x="13716000" y="5897880"/>
            <a:ext cx="16733520" cy="13304520"/>
          </a:xfrm>
          <a:prstGeom prst="roundRect">
            <a:avLst>
              <a:gd name="adj" fmla="val 1100"/>
            </a:avLst>
          </a:prstGeom>
          <a:solidFill>
            <a:srgbClr val="FFFFFF"/>
          </a:solidFill>
          <a:ln w="13970">
            <a:solidFill>
              <a:srgbClr val="DED4C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063472" y="6153912"/>
            <a:ext cx="1603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PIPELINE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14063472" y="6473952"/>
            <a:ext cx="16038576" cy="0"/>
          </a:xfrm>
          <a:prstGeom prst="line">
            <a:avLst/>
          </a:prstGeom>
          <a:noFill/>
          <a:ln w="15240">
            <a:solidFill>
              <a:srgbClr val="D7A95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109192" y="6492240"/>
            <a:ext cx="1581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model is evaluated under the same patient-level split and validation-first selection discipline.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4374368" y="7388352"/>
            <a:ext cx="4069080" cy="914400"/>
          </a:xfrm>
          <a:prstGeom prst="roundRect">
            <a:avLst>
              <a:gd name="adj" fmla="val 16000"/>
            </a:avLst>
          </a:prstGeom>
          <a:solidFill>
            <a:srgbClr val="7A1736"/>
          </a:solidFill>
          <a:ln w="12700">
            <a:solidFill>
              <a:srgbClr val="7A173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4520672" y="7616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5032736" y="753465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AAMOS-00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8534888" y="7845552"/>
            <a:ext cx="896112" cy="0"/>
          </a:xfrm>
          <a:prstGeom prst="line">
            <a:avLst/>
          </a:prstGeom>
          <a:noFill/>
          <a:ln w="15240">
            <a:solidFill>
              <a:srgbClr val="706A64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19540728" y="7388352"/>
            <a:ext cx="4069080" cy="914400"/>
          </a:xfrm>
          <a:prstGeom prst="roundRect">
            <a:avLst>
              <a:gd name="adj" fmla="val 16000"/>
            </a:avLst>
          </a:prstGeom>
          <a:solidFill>
            <a:srgbClr val="7A1736"/>
          </a:solidFill>
          <a:ln w="12700">
            <a:solidFill>
              <a:srgbClr val="7A173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687032" y="7616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20199096" y="753465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+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3701248" y="7845552"/>
            <a:ext cx="896112" cy="0"/>
          </a:xfrm>
          <a:prstGeom prst="line">
            <a:avLst/>
          </a:prstGeom>
          <a:noFill/>
          <a:ln w="15240">
            <a:solidFill>
              <a:srgbClr val="706A64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4707088" y="7388352"/>
            <a:ext cx="4069080" cy="914400"/>
          </a:xfrm>
          <a:prstGeom prst="roundRect">
            <a:avLst>
              <a:gd name="adj" fmla="val 16000"/>
            </a:avLst>
          </a:prstGeom>
          <a:solidFill>
            <a:srgbClr val="7A1736"/>
          </a:solidFill>
          <a:ln w="12700">
            <a:solidFill>
              <a:srgbClr val="7A173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4853392" y="7616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25365456" y="753465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8867608" y="7845552"/>
            <a:ext cx="896112" cy="0"/>
          </a:xfrm>
          <a:prstGeom prst="line">
            <a:avLst/>
          </a:prstGeom>
          <a:noFill/>
          <a:ln w="15240">
            <a:solidFill>
              <a:srgbClr val="706A64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29873448" y="7388352"/>
            <a:ext cx="4069080" cy="914400"/>
          </a:xfrm>
          <a:prstGeom prst="roundRect">
            <a:avLst>
              <a:gd name="adj" fmla="val 16000"/>
            </a:avLst>
          </a:prstGeom>
          <a:solidFill>
            <a:srgbClr val="B8672E"/>
          </a:solidFill>
          <a:ln w="12700">
            <a:solidFill>
              <a:srgbClr val="B8672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019752" y="7616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30531816" y="753465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Lookback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4374368" y="9381744"/>
            <a:ext cx="4069080" cy="914400"/>
          </a:xfrm>
          <a:prstGeom prst="roundRect">
            <a:avLst>
              <a:gd name="adj" fmla="val 16000"/>
            </a:avLst>
          </a:prstGeom>
          <a:solidFill>
            <a:srgbClr val="B8672E"/>
          </a:solidFill>
          <a:ln w="12700">
            <a:solidFill>
              <a:srgbClr val="B8672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4520672" y="9610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15032736" y="95280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Patient-safe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8534888" y="9838944"/>
            <a:ext cx="896112" cy="0"/>
          </a:xfrm>
          <a:prstGeom prst="line">
            <a:avLst/>
          </a:prstGeom>
          <a:noFill/>
          <a:ln w="15240">
            <a:solidFill>
              <a:srgbClr val="706A64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19540728" y="9381744"/>
            <a:ext cx="4069080" cy="914400"/>
          </a:xfrm>
          <a:prstGeom prst="roundRect">
            <a:avLst>
              <a:gd name="adj" fmla="val 16000"/>
            </a:avLst>
          </a:prstGeom>
          <a:solidFill>
            <a:srgbClr val="B8672E"/>
          </a:solidFill>
          <a:ln w="12700">
            <a:solidFill>
              <a:srgbClr val="B8672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9687032" y="9610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20199096" y="95280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3701248" y="9838944"/>
            <a:ext cx="896112" cy="0"/>
          </a:xfrm>
          <a:prstGeom prst="line">
            <a:avLst/>
          </a:prstGeom>
          <a:noFill/>
          <a:ln w="15240">
            <a:solidFill>
              <a:srgbClr val="706A64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24707088" y="9381744"/>
            <a:ext cx="4069080" cy="914400"/>
          </a:xfrm>
          <a:prstGeom prst="roundRect">
            <a:avLst>
              <a:gd name="adj" fmla="val 16000"/>
            </a:avLst>
          </a:prstGeom>
          <a:solidFill>
            <a:srgbClr val="0D4D56"/>
          </a:solidFill>
          <a:ln w="12700">
            <a:solidFill>
              <a:srgbClr val="0D4D5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4853392" y="9610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25365456" y="95280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867608" y="9838944"/>
            <a:ext cx="896112" cy="0"/>
          </a:xfrm>
          <a:prstGeom prst="line">
            <a:avLst/>
          </a:prstGeom>
          <a:noFill/>
          <a:ln w="15240">
            <a:solidFill>
              <a:srgbClr val="706A64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29873448" y="9381744"/>
            <a:ext cx="4069080" cy="914400"/>
          </a:xfrm>
          <a:prstGeom prst="roundRect">
            <a:avLst>
              <a:gd name="adj" fmla="val 16000"/>
            </a:avLst>
          </a:prstGeom>
          <a:solidFill>
            <a:srgbClr val="0D4D56"/>
          </a:solidFill>
          <a:ln w="12700">
            <a:solidFill>
              <a:srgbClr val="0D4D5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0019752" y="9610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30531816" y="95280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held-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test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1907988" y="8394192"/>
            <a:ext cx="0" cy="841248"/>
          </a:xfrm>
          <a:prstGeom prst="line">
            <a:avLst/>
          </a:prstGeom>
          <a:noFill/>
          <a:ln w="15240">
            <a:solidFill>
              <a:srgbClr val="706A64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14218920" y="11932920"/>
            <a:ext cx="15864840" cy="2148840"/>
          </a:xfrm>
          <a:prstGeom prst="roundRect">
            <a:avLst>
              <a:gd name="adj" fmla="val 5957"/>
            </a:avLst>
          </a:prstGeom>
          <a:solidFill>
            <a:srgbClr val="FBF8F4"/>
          </a:solidFill>
          <a:ln w="12700">
            <a:solidFill>
              <a:srgbClr val="DED4C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4538960" y="12207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timing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4630400" y="13121640"/>
            <a:ext cx="14401800" cy="0"/>
          </a:xfrm>
          <a:prstGeom prst="line">
            <a:avLst/>
          </a:prstGeom>
          <a:noFill/>
          <a:ln w="15240">
            <a:solidFill>
              <a:srgbClr val="1C1B1A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14767560" y="1271016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5041880" y="128473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history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E-L ... E-1</a:t>
            </a:r>
            <a:endParaRPr lang="en-US" sz="870" dirty="0"/>
          </a:p>
        </p:txBody>
      </p:sp>
      <p:sp>
        <p:nvSpPr>
          <p:cNvPr id="105" name="Shape 103"/>
          <p:cNvSpPr/>
          <p:nvPr/>
        </p:nvSpPr>
        <p:spPr>
          <a:xfrm>
            <a:off x="20208240" y="12573000"/>
            <a:ext cx="146304" cy="1051560"/>
          </a:xfrm>
          <a:prstGeom prst="rect">
            <a:avLst/>
          </a:prstGeom>
          <a:solidFill>
            <a:srgbClr val="7A1736"/>
          </a:solidFill>
          <a:ln w="10160">
            <a:solidFill>
              <a:srgbClr val="7A173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9613880" y="1367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onset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820" dirty="0"/>
          </a:p>
        </p:txBody>
      </p:sp>
      <p:sp>
        <p:nvSpPr>
          <p:cNvPr id="107" name="Shape 105"/>
          <p:cNvSpPr/>
          <p:nvPr/>
        </p:nvSpPr>
        <p:spPr>
          <a:xfrm>
            <a:off x="21351240" y="12710160"/>
            <a:ext cx="3063240" cy="822960"/>
          </a:xfrm>
          <a:prstGeom prst="roundRect">
            <a:avLst>
              <a:gd name="adj" fmla="val 13333"/>
            </a:avLst>
          </a:prstGeom>
          <a:solidFill>
            <a:srgbClr val="B8672E"/>
          </a:solidFill>
          <a:ln w="12700">
            <a:solidFill>
              <a:srgbClr val="B8672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652992" y="12874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</a:t>
            </a:r>
            <a:endParaRPr lang="en-US" sz="830" dirty="0"/>
          </a:p>
        </p:txBody>
      </p:sp>
      <p:sp>
        <p:nvSpPr>
          <p:cNvPr id="109" name="Shape 107"/>
          <p:cNvSpPr/>
          <p:nvPr/>
        </p:nvSpPr>
        <p:spPr>
          <a:xfrm>
            <a:off x="25008840" y="1271016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A84D24"/>
          </a:solidFill>
          <a:ln w="12700">
            <a:solidFill>
              <a:srgbClr val="A84D2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5191720" y="128381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Post-event washout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excluded negatives</a:t>
            </a:r>
            <a:endParaRPr lang="en-US" sz="760" dirty="0"/>
          </a:p>
        </p:txBody>
      </p:sp>
      <p:sp>
        <p:nvSpPr>
          <p:cNvPr id="111" name="Text 109"/>
          <p:cNvSpPr/>
          <p:nvPr/>
        </p:nvSpPr>
        <p:spPr>
          <a:xfrm>
            <a:off x="14218920" y="14859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C1B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families</a:t>
            </a:r>
            <a:endParaRPr lang="en-US" sz="1020" dirty="0"/>
          </a:p>
        </p:txBody>
      </p:sp>
      <p:sp>
        <p:nvSpPr>
          <p:cNvPr id="112" name="Shape 110"/>
          <p:cNvSpPr/>
          <p:nvPr/>
        </p:nvSpPr>
        <p:spPr>
          <a:xfrm>
            <a:off x="14218920" y="15316200"/>
            <a:ext cx="7452360" cy="841248"/>
          </a:xfrm>
          <a:prstGeom prst="roundRect">
            <a:avLst>
              <a:gd name="adj" fmla="val 13043"/>
            </a:avLst>
          </a:prstGeom>
          <a:solidFill>
            <a:srgbClr val="F1E8DF"/>
          </a:solidFill>
          <a:ln w="12700">
            <a:solidFill>
              <a:srgbClr val="DED4C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4474952" y="154625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16642080" y="154625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- RF - XGBoost</a:t>
            </a:r>
            <a:endParaRPr lang="en-US" sz="830" dirty="0"/>
          </a:p>
        </p:txBody>
      </p:sp>
      <p:sp>
        <p:nvSpPr>
          <p:cNvPr id="115" name="Shape 113"/>
          <p:cNvSpPr/>
          <p:nvPr/>
        </p:nvSpPr>
        <p:spPr>
          <a:xfrm>
            <a:off x="22037040" y="15316200"/>
            <a:ext cx="7452360" cy="841248"/>
          </a:xfrm>
          <a:prstGeom prst="roundRect">
            <a:avLst>
              <a:gd name="adj" fmla="val 13043"/>
            </a:avLst>
          </a:prstGeom>
          <a:solidFill>
            <a:srgbClr val="F1E8DF"/>
          </a:solidFill>
          <a:ln w="12700">
            <a:solidFill>
              <a:srgbClr val="DED4C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2293072" y="154625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DL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24460200" y="154625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 - GRU - LSTM - CNN</a:t>
            </a:r>
            <a:endParaRPr lang="en-US" sz="830" dirty="0"/>
          </a:p>
        </p:txBody>
      </p:sp>
      <p:sp>
        <p:nvSpPr>
          <p:cNvPr id="118" name="Shape 116"/>
          <p:cNvSpPr/>
          <p:nvPr/>
        </p:nvSpPr>
        <p:spPr>
          <a:xfrm>
            <a:off x="14218920" y="16486632"/>
            <a:ext cx="7452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ED4C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4474952" y="166329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16642080" y="166329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PR-AUC first</a:t>
            </a:r>
            <a:endParaRPr lang="en-US" sz="830" dirty="0"/>
          </a:p>
        </p:txBody>
      </p:sp>
      <p:sp>
        <p:nvSpPr>
          <p:cNvPr id="121" name="Shape 119"/>
          <p:cNvSpPr/>
          <p:nvPr/>
        </p:nvSpPr>
        <p:spPr>
          <a:xfrm>
            <a:off x="22037040" y="16486632"/>
            <a:ext cx="7452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ED4C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2293072" y="166329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Safeguards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24460200" y="166329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- Brier - leakage - seeds</a:t>
            </a:r>
            <a:endParaRPr lang="en-US" sz="830" dirty="0"/>
          </a:p>
        </p:txBody>
      </p:sp>
      <p:sp>
        <p:nvSpPr>
          <p:cNvPr id="124" name="Shape 122"/>
          <p:cNvSpPr/>
          <p:nvPr/>
        </p:nvSpPr>
        <p:spPr>
          <a:xfrm>
            <a:off x="13716000" y="19613880"/>
            <a:ext cx="16733520" cy="4709160"/>
          </a:xfrm>
          <a:prstGeom prst="roundRect">
            <a:avLst>
              <a:gd name="adj" fmla="val 3107"/>
            </a:avLst>
          </a:prstGeom>
          <a:solidFill>
            <a:srgbClr val="FFFFFF"/>
          </a:solidFill>
          <a:ln w="13970">
            <a:solidFill>
              <a:srgbClr val="DED4C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4063472" y="19869912"/>
            <a:ext cx="1603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DISCIPLINE</a:t>
            </a:r>
            <a:endParaRPr lang="en-US" sz="820" dirty="0"/>
          </a:p>
        </p:txBody>
      </p:sp>
      <p:sp>
        <p:nvSpPr>
          <p:cNvPr id="126" name="Shape 124"/>
          <p:cNvSpPr/>
          <p:nvPr/>
        </p:nvSpPr>
        <p:spPr>
          <a:xfrm>
            <a:off x="14063472" y="20189952"/>
            <a:ext cx="16038576" cy="0"/>
          </a:xfrm>
          <a:prstGeom prst="line">
            <a:avLst/>
          </a:prstGeom>
          <a:noFill/>
          <a:ln w="15240">
            <a:solidFill>
              <a:srgbClr val="D7A95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4154912" y="20208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880" dirty="0"/>
          </a:p>
        </p:txBody>
      </p:sp>
      <p:sp>
        <p:nvSpPr>
          <p:cNvPr id="128" name="Text 126"/>
          <p:cNvSpPr/>
          <p:nvPr/>
        </p:nvSpPr>
        <p:spPr>
          <a:xfrm>
            <a:off x="16779240" y="20208240"/>
            <a:ext cx="1307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 primary; ROC-AUC, F1, recall, Brier as companions</a:t>
            </a:r>
            <a:endParaRPr lang="en-US" sz="870" dirty="0"/>
          </a:p>
        </p:txBody>
      </p:sp>
      <p:sp>
        <p:nvSpPr>
          <p:cNvPr id="129" name="Text 127"/>
          <p:cNvSpPr/>
          <p:nvPr/>
        </p:nvSpPr>
        <p:spPr>
          <a:xfrm>
            <a:off x="14154912" y="209946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880" dirty="0"/>
          </a:p>
        </p:txBody>
      </p:sp>
      <p:sp>
        <p:nvSpPr>
          <p:cNvPr id="130" name="Text 128"/>
          <p:cNvSpPr/>
          <p:nvPr/>
        </p:nvSpPr>
        <p:spPr>
          <a:xfrm>
            <a:off x="16779240" y="20994624"/>
            <a:ext cx="1307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on validation only; applied unchanged to test</a:t>
            </a:r>
            <a:endParaRPr lang="en-US" sz="870" dirty="0"/>
          </a:p>
        </p:txBody>
      </p:sp>
      <p:sp>
        <p:nvSpPr>
          <p:cNvPr id="131" name="Text 129"/>
          <p:cNvSpPr/>
          <p:nvPr/>
        </p:nvSpPr>
        <p:spPr>
          <a:xfrm>
            <a:off x="14154912" y="21781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</a:t>
            </a:r>
            <a:endParaRPr lang="en-US" sz="880" dirty="0"/>
          </a:p>
        </p:txBody>
      </p:sp>
      <p:sp>
        <p:nvSpPr>
          <p:cNvPr id="132" name="Text 130"/>
          <p:cNvSpPr/>
          <p:nvPr/>
        </p:nvSpPr>
        <p:spPr>
          <a:xfrm>
            <a:off x="16779240" y="21781008"/>
            <a:ext cx="1307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patient-level train / validation / test separation</a:t>
            </a:r>
            <a:endParaRPr lang="en-US" sz="870" dirty="0"/>
          </a:p>
        </p:txBody>
      </p:sp>
      <p:sp>
        <p:nvSpPr>
          <p:cNvPr id="133" name="Text 131"/>
          <p:cNvSpPr/>
          <p:nvPr/>
        </p:nvSpPr>
        <p:spPr>
          <a:xfrm>
            <a:off x="14154912" y="225673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tests</a:t>
            </a:r>
            <a:endParaRPr lang="en-US" sz="880" dirty="0"/>
          </a:p>
        </p:txBody>
      </p:sp>
      <p:sp>
        <p:nvSpPr>
          <p:cNvPr id="134" name="Text 132"/>
          <p:cNvSpPr/>
          <p:nvPr/>
        </p:nvSpPr>
        <p:spPr>
          <a:xfrm>
            <a:off x="16779240" y="22567392"/>
            <a:ext cx="1307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label-shuffle leakage probe, sensor ablation, bootstrap CIs, multi-seed DL</a:t>
            </a:r>
            <a:endParaRPr lang="en-US" sz="870" dirty="0"/>
          </a:p>
        </p:txBody>
      </p:sp>
      <p:sp>
        <p:nvSpPr>
          <p:cNvPr id="135" name="Shape 133"/>
          <p:cNvSpPr/>
          <p:nvPr/>
        </p:nvSpPr>
        <p:spPr>
          <a:xfrm>
            <a:off x="31181040" y="5897880"/>
            <a:ext cx="11750040" cy="96012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3970">
            <a:solidFill>
              <a:srgbClr val="DED4C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1528512" y="615391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TEST RESULTS</a:t>
            </a:r>
            <a:endParaRPr lang="en-US" sz="820" dirty="0"/>
          </a:p>
        </p:txBody>
      </p:sp>
      <p:sp>
        <p:nvSpPr>
          <p:cNvPr id="137" name="Shape 135"/>
          <p:cNvSpPr/>
          <p:nvPr/>
        </p:nvSpPr>
        <p:spPr>
          <a:xfrm>
            <a:off x="31528512" y="6473952"/>
            <a:ext cx="11055096" cy="0"/>
          </a:xfrm>
          <a:prstGeom prst="line">
            <a:avLst/>
          </a:prstGeom>
          <a:noFill/>
          <a:ln w="15240">
            <a:solidFill>
              <a:srgbClr val="D7A95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1574232" y="647395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70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Validation-selected v2 second run</a:t>
            </a:r>
            <a:endParaRPr lang="en-US" sz="840" dirty="0"/>
          </a:p>
        </p:txBody>
      </p:sp>
      <p:sp>
        <p:nvSpPr>
          <p:cNvPr id="139" name="Shape 137"/>
          <p:cNvSpPr/>
          <p:nvPr/>
        </p:nvSpPr>
        <p:spPr>
          <a:xfrm>
            <a:off x="31546800" y="6995160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3B1B18"/>
          </a:solidFill>
          <a:ln w="12700">
            <a:solidFill>
              <a:srgbClr val="3B1B1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1610808" y="7132320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730" dirty="0"/>
          </a:p>
        </p:txBody>
      </p:sp>
      <p:sp>
        <p:nvSpPr>
          <p:cNvPr id="141" name="Shape 139"/>
          <p:cNvSpPr/>
          <p:nvPr/>
        </p:nvSpPr>
        <p:spPr>
          <a:xfrm>
            <a:off x="33421320" y="6995160"/>
            <a:ext cx="2011680" cy="475488"/>
          </a:xfrm>
          <a:prstGeom prst="roundRect">
            <a:avLst>
              <a:gd name="adj" fmla="val 9615"/>
            </a:avLst>
          </a:prstGeom>
          <a:solidFill>
            <a:srgbClr val="3B1B18"/>
          </a:solidFill>
          <a:ln w="12700">
            <a:solidFill>
              <a:srgbClr val="3B1B1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3485328" y="7132320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T/L/W</a:t>
            </a:r>
            <a:endParaRPr lang="en-US" sz="730" dirty="0"/>
          </a:p>
        </p:txBody>
      </p:sp>
      <p:sp>
        <p:nvSpPr>
          <p:cNvPr id="143" name="Shape 141"/>
          <p:cNvSpPr/>
          <p:nvPr/>
        </p:nvSpPr>
        <p:spPr>
          <a:xfrm>
            <a:off x="35433000" y="699516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3B1B18"/>
          </a:solidFill>
          <a:ln w="12700">
            <a:solidFill>
              <a:srgbClr val="3B1B1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5497008" y="713232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</a:t>
            </a:r>
            <a:endParaRPr lang="en-US" sz="730" dirty="0"/>
          </a:p>
        </p:txBody>
      </p:sp>
      <p:sp>
        <p:nvSpPr>
          <p:cNvPr id="145" name="Shape 143"/>
          <p:cNvSpPr/>
          <p:nvPr/>
        </p:nvSpPr>
        <p:spPr>
          <a:xfrm>
            <a:off x="37353240" y="6995160"/>
            <a:ext cx="1417320" cy="475488"/>
          </a:xfrm>
          <a:prstGeom prst="roundRect">
            <a:avLst>
              <a:gd name="adj" fmla="val 9615"/>
            </a:avLst>
          </a:prstGeom>
          <a:solidFill>
            <a:srgbClr val="3B1B18"/>
          </a:solidFill>
          <a:ln w="12700">
            <a:solidFill>
              <a:srgbClr val="3B1B1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7417248" y="713232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730" dirty="0"/>
          </a:p>
        </p:txBody>
      </p:sp>
      <p:sp>
        <p:nvSpPr>
          <p:cNvPr id="147" name="Shape 145"/>
          <p:cNvSpPr/>
          <p:nvPr/>
        </p:nvSpPr>
        <p:spPr>
          <a:xfrm>
            <a:off x="38770560" y="6995160"/>
            <a:ext cx="1508760" cy="475488"/>
          </a:xfrm>
          <a:prstGeom prst="roundRect">
            <a:avLst>
              <a:gd name="adj" fmla="val 9615"/>
            </a:avLst>
          </a:prstGeom>
          <a:solidFill>
            <a:srgbClr val="3B1B18"/>
          </a:solidFill>
          <a:ln w="12700">
            <a:solidFill>
              <a:srgbClr val="3B1B1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8834568" y="7132320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730" dirty="0"/>
          </a:p>
        </p:txBody>
      </p:sp>
      <p:sp>
        <p:nvSpPr>
          <p:cNvPr id="149" name="Shape 147"/>
          <p:cNvSpPr/>
          <p:nvPr/>
        </p:nvSpPr>
        <p:spPr>
          <a:xfrm>
            <a:off x="40279320" y="6995160"/>
            <a:ext cx="1645920" cy="475488"/>
          </a:xfrm>
          <a:prstGeom prst="roundRect">
            <a:avLst>
              <a:gd name="adj" fmla="val 9615"/>
            </a:avLst>
          </a:prstGeom>
          <a:solidFill>
            <a:srgbClr val="3B1B18"/>
          </a:solidFill>
          <a:ln w="12700">
            <a:solidFill>
              <a:srgbClr val="3B1B1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0343328" y="713232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730" dirty="0"/>
          </a:p>
        </p:txBody>
      </p:sp>
      <p:sp>
        <p:nvSpPr>
          <p:cNvPr id="151" name="Shape 149"/>
          <p:cNvSpPr/>
          <p:nvPr/>
        </p:nvSpPr>
        <p:spPr>
          <a:xfrm>
            <a:off x="31546800" y="7562088"/>
            <a:ext cx="1874520" cy="512064"/>
          </a:xfrm>
          <a:prstGeom prst="rect">
            <a:avLst/>
          </a:prstGeom>
          <a:solidFill>
            <a:srgbClr val="FFF5E4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1592520" y="7708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33421320" y="7562088"/>
            <a:ext cx="2011680" cy="512064"/>
          </a:xfrm>
          <a:prstGeom prst="rect">
            <a:avLst/>
          </a:prstGeom>
          <a:solidFill>
            <a:srgbClr val="FFF5E4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3467040" y="7708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4/14/14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35433000" y="7562088"/>
            <a:ext cx="1920240" cy="512064"/>
          </a:xfrm>
          <a:prstGeom prst="rect">
            <a:avLst/>
          </a:prstGeom>
          <a:solidFill>
            <a:srgbClr val="FFF5E4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5478720" y="7708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0.555</a:t>
            </a:r>
            <a:endParaRPr lang="en-US" sz="720" dirty="0"/>
          </a:p>
        </p:txBody>
      </p:sp>
      <p:sp>
        <p:nvSpPr>
          <p:cNvPr id="157" name="Shape 155"/>
          <p:cNvSpPr/>
          <p:nvPr/>
        </p:nvSpPr>
        <p:spPr>
          <a:xfrm>
            <a:off x="37353240" y="7562088"/>
            <a:ext cx="1417320" cy="512064"/>
          </a:xfrm>
          <a:prstGeom prst="rect">
            <a:avLst/>
          </a:prstGeom>
          <a:solidFill>
            <a:srgbClr val="FFF5E4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7398960" y="7708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0.934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38770560" y="7562088"/>
            <a:ext cx="1508760" cy="512064"/>
          </a:xfrm>
          <a:prstGeom prst="rect">
            <a:avLst/>
          </a:prstGeom>
          <a:solidFill>
            <a:srgbClr val="FFF5E4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8816280" y="77083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0.667*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40279320" y="7562088"/>
            <a:ext cx="1645920" cy="512064"/>
          </a:xfrm>
          <a:prstGeom prst="rect">
            <a:avLst/>
          </a:prstGeom>
          <a:solidFill>
            <a:srgbClr val="FFF5E4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0325040" y="77083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325 (4+)</a:t>
            </a:r>
            <a:endParaRPr lang="en-US" sz="720" dirty="0"/>
          </a:p>
        </p:txBody>
      </p:sp>
      <p:sp>
        <p:nvSpPr>
          <p:cNvPr id="163" name="Shape 161"/>
          <p:cNvSpPr/>
          <p:nvPr/>
        </p:nvSpPr>
        <p:spPr>
          <a:xfrm>
            <a:off x="31546800" y="8183880"/>
            <a:ext cx="18745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1592520" y="83301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33421320" y="8183880"/>
            <a:ext cx="201168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3467040" y="83301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3/14/14</a:t>
            </a:r>
            <a:endParaRPr lang="en-US" sz="720" dirty="0"/>
          </a:p>
        </p:txBody>
      </p:sp>
      <p:sp>
        <p:nvSpPr>
          <p:cNvPr id="167" name="Shape 165"/>
          <p:cNvSpPr/>
          <p:nvPr/>
        </p:nvSpPr>
        <p:spPr>
          <a:xfrm>
            <a:off x="35433000" y="8183880"/>
            <a:ext cx="192024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5478720" y="83301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0.526</a:t>
            </a:r>
            <a:endParaRPr lang="en-US" sz="720" dirty="0"/>
          </a:p>
        </p:txBody>
      </p:sp>
      <p:sp>
        <p:nvSpPr>
          <p:cNvPr id="169" name="Shape 167"/>
          <p:cNvSpPr/>
          <p:nvPr/>
        </p:nvSpPr>
        <p:spPr>
          <a:xfrm>
            <a:off x="37353240" y="8183880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7398960" y="83301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0.875</a:t>
            </a:r>
            <a:endParaRPr lang="en-US" sz="720" dirty="0"/>
          </a:p>
        </p:txBody>
      </p:sp>
      <p:sp>
        <p:nvSpPr>
          <p:cNvPr id="171" name="Shape 169"/>
          <p:cNvSpPr/>
          <p:nvPr/>
        </p:nvSpPr>
        <p:spPr>
          <a:xfrm>
            <a:off x="38770560" y="8183880"/>
            <a:ext cx="15087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8816280" y="83301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0.308</a:t>
            </a:r>
            <a:endParaRPr lang="en-US" sz="720" dirty="0"/>
          </a:p>
        </p:txBody>
      </p:sp>
      <p:sp>
        <p:nvSpPr>
          <p:cNvPr id="173" name="Shape 171"/>
          <p:cNvSpPr/>
          <p:nvPr/>
        </p:nvSpPr>
        <p:spPr>
          <a:xfrm>
            <a:off x="40279320" y="8183880"/>
            <a:ext cx="16459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0325040" y="833018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324 (4+)</a:t>
            </a:r>
            <a:endParaRPr lang="en-US" sz="720" dirty="0"/>
          </a:p>
        </p:txBody>
      </p:sp>
      <p:sp>
        <p:nvSpPr>
          <p:cNvPr id="175" name="Shape 173"/>
          <p:cNvSpPr/>
          <p:nvPr/>
        </p:nvSpPr>
        <p:spPr>
          <a:xfrm>
            <a:off x="31546800" y="8805672"/>
            <a:ext cx="1874520" cy="512064"/>
          </a:xfrm>
          <a:prstGeom prst="rect">
            <a:avLst/>
          </a:prstGeom>
          <a:solidFill>
            <a:srgbClr val="F9F5E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1592520" y="89519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33421320" y="8805672"/>
            <a:ext cx="2011680" cy="512064"/>
          </a:xfrm>
          <a:prstGeom prst="rect">
            <a:avLst/>
          </a:prstGeom>
          <a:solidFill>
            <a:srgbClr val="F9F5E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3467040" y="89519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3/14/14</a:t>
            </a:r>
            <a:endParaRPr lang="en-US" sz="720" dirty="0"/>
          </a:p>
        </p:txBody>
      </p:sp>
      <p:sp>
        <p:nvSpPr>
          <p:cNvPr id="179" name="Shape 177"/>
          <p:cNvSpPr/>
          <p:nvPr/>
        </p:nvSpPr>
        <p:spPr>
          <a:xfrm>
            <a:off x="35433000" y="8805672"/>
            <a:ext cx="1920240" cy="512064"/>
          </a:xfrm>
          <a:prstGeom prst="rect">
            <a:avLst/>
          </a:prstGeom>
          <a:solidFill>
            <a:srgbClr val="F9F5E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5478720" y="89519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0.261+/-.148</a:t>
            </a:r>
            <a:endParaRPr lang="en-US" sz="720" dirty="0"/>
          </a:p>
        </p:txBody>
      </p:sp>
      <p:sp>
        <p:nvSpPr>
          <p:cNvPr id="181" name="Shape 179"/>
          <p:cNvSpPr/>
          <p:nvPr/>
        </p:nvSpPr>
        <p:spPr>
          <a:xfrm>
            <a:off x="37353240" y="8805672"/>
            <a:ext cx="1417320" cy="512064"/>
          </a:xfrm>
          <a:prstGeom prst="rect">
            <a:avLst/>
          </a:prstGeom>
          <a:solidFill>
            <a:srgbClr val="F9F5E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7398960" y="89519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0.902+/-.057</a:t>
            </a:r>
            <a:endParaRPr lang="en-US" sz="720" dirty="0"/>
          </a:p>
        </p:txBody>
      </p:sp>
      <p:sp>
        <p:nvSpPr>
          <p:cNvPr id="183" name="Shape 181"/>
          <p:cNvSpPr/>
          <p:nvPr/>
        </p:nvSpPr>
        <p:spPr>
          <a:xfrm>
            <a:off x="38770560" y="8805672"/>
            <a:ext cx="1508760" cy="512064"/>
          </a:xfrm>
          <a:prstGeom prst="rect">
            <a:avLst/>
          </a:prstGeom>
          <a:solidFill>
            <a:srgbClr val="F9F5E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38816280" y="895197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720" dirty="0"/>
          </a:p>
        </p:txBody>
      </p:sp>
      <p:sp>
        <p:nvSpPr>
          <p:cNvPr id="185" name="Shape 183"/>
          <p:cNvSpPr/>
          <p:nvPr/>
        </p:nvSpPr>
        <p:spPr>
          <a:xfrm>
            <a:off x="40279320" y="8805672"/>
            <a:ext cx="1645920" cy="512064"/>
          </a:xfrm>
          <a:prstGeom prst="rect">
            <a:avLst/>
          </a:prstGeom>
          <a:solidFill>
            <a:srgbClr val="F9F5E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0325040" y="89519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324 (4+)</a:t>
            </a:r>
            <a:endParaRPr lang="en-US" sz="720" dirty="0"/>
          </a:p>
        </p:txBody>
      </p:sp>
      <p:sp>
        <p:nvSpPr>
          <p:cNvPr id="187" name="Shape 185"/>
          <p:cNvSpPr/>
          <p:nvPr/>
        </p:nvSpPr>
        <p:spPr>
          <a:xfrm>
            <a:off x="31546800" y="9427464"/>
            <a:ext cx="18745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1592520" y="95737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33421320" y="9427464"/>
            <a:ext cx="201168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3467040" y="95737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4/14/0</a:t>
            </a:r>
            <a:endParaRPr lang="en-US" sz="720" dirty="0"/>
          </a:p>
        </p:txBody>
      </p:sp>
      <p:sp>
        <p:nvSpPr>
          <p:cNvPr id="191" name="Shape 189"/>
          <p:cNvSpPr/>
          <p:nvPr/>
        </p:nvSpPr>
        <p:spPr>
          <a:xfrm>
            <a:off x="35433000" y="9427464"/>
            <a:ext cx="192024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5478720" y="95737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0.022</a:t>
            </a:r>
            <a:endParaRPr lang="en-US" sz="720" dirty="0"/>
          </a:p>
        </p:txBody>
      </p:sp>
      <p:sp>
        <p:nvSpPr>
          <p:cNvPr id="193" name="Shape 191"/>
          <p:cNvSpPr/>
          <p:nvPr/>
        </p:nvSpPr>
        <p:spPr>
          <a:xfrm>
            <a:off x="37353240" y="9427464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37398960" y="95737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0.615</a:t>
            </a:r>
            <a:endParaRPr lang="en-US" sz="720" dirty="0"/>
          </a:p>
        </p:txBody>
      </p:sp>
      <p:sp>
        <p:nvSpPr>
          <p:cNvPr id="195" name="Shape 193"/>
          <p:cNvSpPr/>
          <p:nvPr/>
        </p:nvSpPr>
        <p:spPr>
          <a:xfrm>
            <a:off x="38770560" y="9427464"/>
            <a:ext cx="15087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38816280" y="95737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0.041</a:t>
            </a:r>
            <a:endParaRPr lang="en-US" sz="720" dirty="0"/>
          </a:p>
        </p:txBody>
      </p:sp>
      <p:sp>
        <p:nvSpPr>
          <p:cNvPr id="197" name="Shape 195"/>
          <p:cNvSpPr/>
          <p:nvPr/>
        </p:nvSpPr>
        <p:spPr>
          <a:xfrm>
            <a:off x="40279320" y="9427464"/>
            <a:ext cx="16459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0325040" y="95737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(4+)</a:t>
            </a:r>
            <a:endParaRPr lang="en-US" sz="720" dirty="0"/>
          </a:p>
        </p:txBody>
      </p:sp>
      <p:sp>
        <p:nvSpPr>
          <p:cNvPr id="199" name="Text 197"/>
          <p:cNvSpPr/>
          <p:nvPr/>
        </p:nvSpPr>
        <p:spPr>
          <a:xfrm>
            <a:off x="31592520" y="102229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706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*RF value is validation-tuned F1. XGB F1 shown is untuned test F1; tuned F1 was lower.</a:t>
            </a:r>
            <a:endParaRPr lang="en-US" sz="720" dirty="0"/>
          </a:p>
        </p:txBody>
      </p:sp>
      <p:sp>
        <p:nvSpPr>
          <p:cNvPr id="200" name="Shape 198"/>
          <p:cNvSpPr/>
          <p:nvPr/>
        </p:nvSpPr>
        <p:spPr>
          <a:xfrm>
            <a:off x="31592520" y="10972800"/>
            <a:ext cx="10835640" cy="1444752"/>
          </a:xfrm>
          <a:prstGeom prst="roundRect">
            <a:avLst>
              <a:gd name="adj" fmla="val 7595"/>
            </a:avLst>
          </a:prstGeom>
          <a:solidFill>
            <a:srgbClr val="F1E8DF"/>
          </a:solidFill>
          <a:ln w="12700">
            <a:solidFill>
              <a:srgbClr val="DED4C8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31912560" y="11201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84D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Wide uncertainty</a:t>
            </a:r>
            <a:endParaRPr lang="en-US" sz="900" dirty="0"/>
          </a:p>
        </p:txBody>
      </p:sp>
      <p:sp>
        <p:nvSpPr>
          <p:cNvPr id="202" name="Text 200"/>
          <p:cNvSpPr/>
          <p:nvPr/>
        </p:nvSpPr>
        <p:spPr>
          <a:xfrm>
            <a:off x="31912560" y="1157630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 PR-AUC 95% CI: 0.033 to 1.000 because the held-out test set had only four positives.</a:t>
            </a:r>
            <a:endParaRPr lang="en-US" sz="890" dirty="0"/>
          </a:p>
        </p:txBody>
      </p:sp>
      <p:sp>
        <p:nvSpPr>
          <p:cNvPr id="203" name="Text 201"/>
          <p:cNvSpPr/>
          <p:nvPr/>
        </p:nvSpPr>
        <p:spPr>
          <a:xfrm>
            <a:off x="31592520" y="1296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204" name="Text 202"/>
          <p:cNvSpPr/>
          <p:nvPr/>
        </p:nvSpPr>
        <p:spPr>
          <a:xfrm>
            <a:off x="33832800" y="1294790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C1B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Promising rank signal exists, but clinical reliability is not established.</a:t>
            </a:r>
            <a:endParaRPr lang="en-US" sz="920" dirty="0"/>
          </a:p>
        </p:txBody>
      </p:sp>
      <p:sp>
        <p:nvSpPr>
          <p:cNvPr id="205" name="Shape 203"/>
          <p:cNvSpPr/>
          <p:nvPr/>
        </p:nvSpPr>
        <p:spPr>
          <a:xfrm>
            <a:off x="31181040" y="15956280"/>
            <a:ext cx="11750040" cy="5440680"/>
          </a:xfrm>
          <a:prstGeom prst="roundRect">
            <a:avLst>
              <a:gd name="adj" fmla="val 2689"/>
            </a:avLst>
          </a:prstGeom>
          <a:solidFill>
            <a:srgbClr val="FFFFFF"/>
          </a:solidFill>
          <a:ln w="13970">
            <a:solidFill>
              <a:srgbClr val="DED4C8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1528512" y="1621231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INTERPRETING MULTIMODAL SIGNAL</a:t>
            </a:r>
            <a:endParaRPr lang="en-US" sz="820" dirty="0"/>
          </a:p>
        </p:txBody>
      </p:sp>
      <p:sp>
        <p:nvSpPr>
          <p:cNvPr id="207" name="Shape 205"/>
          <p:cNvSpPr/>
          <p:nvPr/>
        </p:nvSpPr>
        <p:spPr>
          <a:xfrm>
            <a:off x="31528512" y="16532352"/>
            <a:ext cx="11055096" cy="0"/>
          </a:xfrm>
          <a:prstGeom prst="line">
            <a:avLst/>
          </a:prstGeom>
          <a:noFill/>
          <a:ln w="15240">
            <a:solidFill>
              <a:srgbClr val="D7A95A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31802832" y="16532352"/>
            <a:ext cx="10287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1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All-sensor tabular RF produced the strongest validation-selected held-out result.</a:t>
            </a:r>
            <a:endParaRPr lang="en-US" sz="910" dirty="0"/>
          </a:p>
        </p:txBody>
      </p:sp>
      <p:sp>
        <p:nvSpPr>
          <p:cNvPr id="209" name="Text 207"/>
          <p:cNvSpPr/>
          <p:nvPr/>
        </p:nvSpPr>
        <p:spPr>
          <a:xfrm>
            <a:off x="31802832" y="17209008"/>
            <a:ext cx="10287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1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 patterns were not monotonic; sensor-source importance is not cleanly separable.</a:t>
            </a:r>
            <a:endParaRPr lang="en-US" sz="910" dirty="0"/>
          </a:p>
        </p:txBody>
      </p:sp>
      <p:sp>
        <p:nvSpPr>
          <p:cNvPr id="210" name="Text 208"/>
          <p:cNvSpPr/>
          <p:nvPr/>
        </p:nvSpPr>
        <p:spPr>
          <a:xfrm>
            <a:off x="31802832" y="17885664"/>
            <a:ext cx="102870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1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Questionnaire-derived predictors may be close to symptom-based labels and must be checked for proxy-label effects.</a:t>
            </a:r>
            <a:endParaRPr lang="en-US" sz="910" dirty="0"/>
          </a:p>
        </p:txBody>
      </p:sp>
      <p:sp>
        <p:nvSpPr>
          <p:cNvPr id="211" name="Text 209"/>
          <p:cNvSpPr/>
          <p:nvPr/>
        </p:nvSpPr>
        <p:spPr>
          <a:xfrm>
            <a:off x="31802832" y="18672048"/>
            <a:ext cx="10287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1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accuracy alone is not meaningful in this rare-event setting.</a:t>
            </a:r>
            <a:endParaRPr lang="en-US" sz="910" dirty="0"/>
          </a:p>
        </p:txBody>
      </p:sp>
      <p:sp>
        <p:nvSpPr>
          <p:cNvPr id="212" name="Shape 210"/>
          <p:cNvSpPr/>
          <p:nvPr/>
        </p:nvSpPr>
        <p:spPr>
          <a:xfrm>
            <a:off x="31592520" y="19705320"/>
            <a:ext cx="1083564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5240">
            <a:solidFill>
              <a:srgbClr val="D7A95A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31866840" y="19952208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reading: best signal found, not deployment readiness.</a:t>
            </a:r>
            <a:endParaRPr lang="en-US" sz="910" dirty="0"/>
          </a:p>
        </p:txBody>
      </p:sp>
      <p:sp>
        <p:nvSpPr>
          <p:cNvPr id="214" name="Shape 212"/>
          <p:cNvSpPr/>
          <p:nvPr/>
        </p:nvSpPr>
        <p:spPr>
          <a:xfrm>
            <a:off x="31181040" y="21808440"/>
            <a:ext cx="11750040" cy="5440680"/>
          </a:xfrm>
          <a:prstGeom prst="roundRect">
            <a:avLst>
              <a:gd name="adj" fmla="val 2689"/>
            </a:avLst>
          </a:prstGeom>
          <a:solidFill>
            <a:srgbClr val="FFFFFF"/>
          </a:solidFill>
          <a:ln w="13970">
            <a:solidFill>
              <a:srgbClr val="DED4C8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31528512" y="2206447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&amp; NEXT STEPS</a:t>
            </a:r>
            <a:endParaRPr lang="en-US" sz="820" dirty="0"/>
          </a:p>
        </p:txBody>
      </p:sp>
      <p:sp>
        <p:nvSpPr>
          <p:cNvPr id="216" name="Shape 214"/>
          <p:cNvSpPr/>
          <p:nvPr/>
        </p:nvSpPr>
        <p:spPr>
          <a:xfrm>
            <a:off x="31528512" y="22384512"/>
            <a:ext cx="11055096" cy="0"/>
          </a:xfrm>
          <a:prstGeom prst="line">
            <a:avLst/>
          </a:prstGeom>
          <a:noFill/>
          <a:ln w="15240">
            <a:solidFill>
              <a:srgbClr val="D7A95A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1592520" y="22448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cohort</a:t>
            </a:r>
            <a:endParaRPr lang="en-US" sz="870" dirty="0"/>
          </a:p>
        </p:txBody>
      </p:sp>
      <p:sp>
        <p:nvSpPr>
          <p:cNvPr id="218" name="Text 216"/>
          <p:cNvSpPr/>
          <p:nvPr/>
        </p:nvSpPr>
        <p:spPr>
          <a:xfrm>
            <a:off x="34061400" y="22448520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~22 enrolled; 20 modeled users after preprocessing</a:t>
            </a:r>
            <a:endParaRPr lang="en-US" sz="840" dirty="0"/>
          </a:p>
        </p:txBody>
      </p:sp>
      <p:sp>
        <p:nvSpPr>
          <p:cNvPr id="219" name="Text 217"/>
          <p:cNvSpPr/>
          <p:nvPr/>
        </p:nvSpPr>
        <p:spPr>
          <a:xfrm>
            <a:off x="31592520" y="23362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 events</a:t>
            </a:r>
            <a:endParaRPr lang="en-US" sz="870" dirty="0"/>
          </a:p>
        </p:txBody>
      </p:sp>
      <p:sp>
        <p:nvSpPr>
          <p:cNvPr id="220" name="Text 218"/>
          <p:cNvSpPr/>
          <p:nvPr/>
        </p:nvSpPr>
        <p:spPr>
          <a:xfrm>
            <a:off x="34061400" y="23362920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positives often 4 or fewer</a:t>
            </a:r>
            <a:endParaRPr lang="en-US" sz="840" dirty="0"/>
          </a:p>
        </p:txBody>
      </p:sp>
      <p:sp>
        <p:nvSpPr>
          <p:cNvPr id="221" name="Text 219"/>
          <p:cNvSpPr/>
          <p:nvPr/>
        </p:nvSpPr>
        <p:spPr>
          <a:xfrm>
            <a:off x="31592520" y="2427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</a:t>
            </a:r>
            <a:endParaRPr lang="en-US" sz="870" dirty="0"/>
          </a:p>
        </p:txBody>
      </p:sp>
      <p:sp>
        <p:nvSpPr>
          <p:cNvPr id="222" name="Text 220"/>
          <p:cNvSpPr/>
          <p:nvPr/>
        </p:nvSpPr>
        <p:spPr>
          <a:xfrm>
            <a:off x="34061400" y="24277320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 probes near-random overall, but individual configs unstable</a:t>
            </a:r>
            <a:endParaRPr lang="en-US" sz="840" dirty="0"/>
          </a:p>
        </p:txBody>
      </p:sp>
      <p:sp>
        <p:nvSpPr>
          <p:cNvPr id="223" name="Text 221"/>
          <p:cNvSpPr/>
          <p:nvPr/>
        </p:nvSpPr>
        <p:spPr>
          <a:xfrm>
            <a:off x="31592520" y="25191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A1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870" dirty="0"/>
          </a:p>
        </p:txBody>
      </p:sp>
      <p:sp>
        <p:nvSpPr>
          <p:cNvPr id="224" name="Text 222"/>
          <p:cNvSpPr/>
          <p:nvPr/>
        </p:nvSpPr>
        <p:spPr>
          <a:xfrm>
            <a:off x="34061400" y="25191720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3C38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patient-level CV, raw-minute/downsampled representations, external validation</a:t>
            </a:r>
            <a:endParaRPr lang="en-US" sz="840" dirty="0"/>
          </a:p>
        </p:txBody>
      </p:sp>
      <p:sp>
        <p:nvSpPr>
          <p:cNvPr id="225" name="Shape 223"/>
          <p:cNvSpPr/>
          <p:nvPr/>
        </p:nvSpPr>
        <p:spPr>
          <a:xfrm>
            <a:off x="0" y="28346400"/>
            <a:ext cx="43891200" cy="4572000"/>
          </a:xfrm>
          <a:prstGeom prst="rect">
            <a:avLst/>
          </a:prstGeom>
          <a:solidFill>
            <a:srgbClr val="3B1B18"/>
          </a:solidFill>
          <a:ln w="10160">
            <a:solidFill>
              <a:srgbClr val="3B1B18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143000" y="28849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contributed</a:t>
            </a:r>
            <a:endParaRPr lang="en-US" sz="1220" dirty="0"/>
          </a:p>
        </p:txBody>
      </p:sp>
      <p:sp>
        <p:nvSpPr>
          <p:cNvPr id="227" name="Shape 225"/>
          <p:cNvSpPr/>
          <p:nvPr/>
        </p:nvSpPr>
        <p:spPr>
          <a:xfrm>
            <a:off x="1143000" y="29489400"/>
            <a:ext cx="9646920" cy="1965960"/>
          </a:xfrm>
          <a:prstGeom prst="roundRect">
            <a:avLst>
              <a:gd name="adj" fmla="val 7442"/>
            </a:avLst>
          </a:prstGeom>
          <a:solidFill>
            <a:srgbClr val="4A2923"/>
          </a:solidFill>
          <a:ln w="12700">
            <a:solidFill>
              <a:srgbClr val="4A2923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1527048" y="29763720"/>
            <a:ext cx="8915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7A9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RIGOROUS SAMPLING</a:t>
            </a:r>
            <a:endParaRPr lang="en-US" sz="830" dirty="0"/>
          </a:p>
        </p:txBody>
      </p:sp>
      <p:sp>
        <p:nvSpPr>
          <p:cNvPr id="229" name="Text 227"/>
          <p:cNvSpPr/>
          <p:nvPr/>
        </p:nvSpPr>
        <p:spPr>
          <a:xfrm>
            <a:off x="1645920" y="30220920"/>
            <a:ext cx="8641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event-episode windows, post-event washout, patient-safe splits</a:t>
            </a:r>
            <a:endParaRPr lang="en-US" sz="920" dirty="0"/>
          </a:p>
        </p:txBody>
      </p:sp>
      <p:sp>
        <p:nvSpPr>
          <p:cNvPr id="230" name="Shape 228"/>
          <p:cNvSpPr/>
          <p:nvPr/>
        </p:nvSpPr>
        <p:spPr>
          <a:xfrm>
            <a:off x="11750040" y="29489400"/>
            <a:ext cx="9646920" cy="1965960"/>
          </a:xfrm>
          <a:prstGeom prst="roundRect">
            <a:avLst>
              <a:gd name="adj" fmla="val 7442"/>
            </a:avLst>
          </a:prstGeom>
          <a:solidFill>
            <a:srgbClr val="4A2923"/>
          </a:solidFill>
          <a:ln w="12700">
            <a:solidFill>
              <a:srgbClr val="4A2923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12134088" y="29763720"/>
            <a:ext cx="8915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7A9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COMPARISON</a:t>
            </a:r>
            <a:endParaRPr lang="en-US" sz="830" dirty="0"/>
          </a:p>
        </p:txBody>
      </p:sp>
      <p:sp>
        <p:nvSpPr>
          <p:cNvPr id="232" name="Text 230"/>
          <p:cNvSpPr/>
          <p:nvPr/>
        </p:nvSpPr>
        <p:spPr>
          <a:xfrm>
            <a:off x="12252960" y="30220920"/>
            <a:ext cx="8641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LR/RF/XGB + RNN/GRU/LSTM/CNN under the same validation rule</a:t>
            </a:r>
            <a:endParaRPr lang="en-US" sz="920" dirty="0"/>
          </a:p>
        </p:txBody>
      </p:sp>
      <p:sp>
        <p:nvSpPr>
          <p:cNvPr id="233" name="Shape 231"/>
          <p:cNvSpPr/>
          <p:nvPr/>
        </p:nvSpPr>
        <p:spPr>
          <a:xfrm>
            <a:off x="22357080" y="29489400"/>
            <a:ext cx="9646920" cy="1965960"/>
          </a:xfrm>
          <a:prstGeom prst="roundRect">
            <a:avLst>
              <a:gd name="adj" fmla="val 7442"/>
            </a:avLst>
          </a:prstGeom>
          <a:solidFill>
            <a:srgbClr val="4A2923"/>
          </a:solidFill>
          <a:ln w="12700">
            <a:solidFill>
              <a:srgbClr val="4A2923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22741128" y="29763720"/>
            <a:ext cx="8915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7A9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CHECKS</a:t>
            </a:r>
            <a:endParaRPr lang="en-US" sz="830" dirty="0"/>
          </a:p>
        </p:txBody>
      </p:sp>
      <p:sp>
        <p:nvSpPr>
          <p:cNvPr id="235" name="Text 233"/>
          <p:cNvSpPr/>
          <p:nvPr/>
        </p:nvSpPr>
        <p:spPr>
          <a:xfrm>
            <a:off x="22860000" y="30220920"/>
            <a:ext cx="8641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calibration, train-val gap, leakage probes, ablation, bootstrap CIs</a:t>
            </a:r>
            <a:endParaRPr lang="en-US" sz="920" dirty="0"/>
          </a:p>
        </p:txBody>
      </p:sp>
      <p:sp>
        <p:nvSpPr>
          <p:cNvPr id="236" name="Shape 234"/>
          <p:cNvSpPr/>
          <p:nvPr/>
        </p:nvSpPr>
        <p:spPr>
          <a:xfrm>
            <a:off x="32964120" y="29489400"/>
            <a:ext cx="9646920" cy="1965960"/>
          </a:xfrm>
          <a:prstGeom prst="roundRect">
            <a:avLst>
              <a:gd name="adj" fmla="val 7442"/>
            </a:avLst>
          </a:prstGeom>
          <a:solidFill>
            <a:srgbClr val="B8672E"/>
          </a:solidFill>
          <a:ln w="12700">
            <a:solidFill>
              <a:srgbClr val="B8672E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33348168" y="29763720"/>
            <a:ext cx="8915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7A9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RESULT</a:t>
            </a:r>
            <a:endParaRPr lang="en-US" sz="830" dirty="0"/>
          </a:p>
        </p:txBody>
      </p:sp>
      <p:sp>
        <p:nvSpPr>
          <p:cNvPr id="238" name="Text 236"/>
          <p:cNvSpPr/>
          <p:nvPr/>
        </p:nvSpPr>
        <p:spPr>
          <a:xfrm>
            <a:off x="33467040" y="30220920"/>
            <a:ext cx="8641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promising signal with explicit uncertainty and non-deployment caveat</a:t>
            </a:r>
            <a:endParaRPr lang="en-US" sz="920" dirty="0"/>
          </a:p>
        </p:txBody>
      </p:sp>
      <p:sp>
        <p:nvSpPr>
          <p:cNvPr id="239" name="Text 237"/>
          <p:cNvSpPr/>
          <p:nvPr/>
        </p:nvSpPr>
        <p:spPr>
          <a:xfrm>
            <a:off x="1143000" y="32141160"/>
            <a:ext cx="3383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D8C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and results: v2 event-episode protocol - final numbers from v2_results_second_run/v2/tables - Poster generated as editable PowerPoint</a:t>
            </a:r>
            <a:endParaRPr lang="en-US" sz="760" dirty="0"/>
          </a:p>
        </p:txBody>
      </p:sp>
      <p:sp>
        <p:nvSpPr>
          <p:cNvPr id="240" name="Text 238"/>
          <p:cNvSpPr/>
          <p:nvPr/>
        </p:nvSpPr>
        <p:spPr>
          <a:xfrm>
            <a:off x="34930080" y="3211372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D7A9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 target: clear pipeline, credible validation, restrained claims</a:t>
            </a:r>
            <a:endParaRPr lang="en-US" sz="760" dirty="0"/>
          </a:p>
        </p:txBody>
      </p:sp>
      <p:sp>
        <p:nvSpPr>
          <p:cNvPr id="241" name="Shape 239"/>
          <p:cNvSpPr/>
          <p:nvPr/>
        </p:nvSpPr>
        <p:spPr>
          <a:xfrm>
            <a:off x="13304520" y="5897880"/>
            <a:ext cx="0" cy="21351240"/>
          </a:xfrm>
          <a:prstGeom prst="line">
            <a:avLst/>
          </a:prstGeom>
          <a:noFill/>
          <a:ln w="12700">
            <a:solidFill>
              <a:srgbClr val="DED4C8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0769560" y="5897880"/>
            <a:ext cx="0" cy="21351240"/>
          </a:xfrm>
          <a:prstGeom prst="line">
            <a:avLst/>
          </a:prstGeom>
          <a:noFill/>
          <a:ln w="12700">
            <a:solidFill>
              <a:srgbClr val="DED4C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American University of Beirut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Early-Warning Prediction of Asthma Exacerbations</dc:title>
  <dc:subject>Early-warning prediction of asthma exacerbations</dc:subject>
  <dc:creator>Bahaa Hamdan, Tarek El Moura, Anthony John Kanaan</dc:creator>
  <cp:lastModifiedBy>Bahaa Hamdan, Tarek El Moura, Anthony John Kanaan</cp:lastModifiedBy>
  <cp:revision>1</cp:revision>
  <dcterms:created xsi:type="dcterms:W3CDTF">2026-05-14T22:17:56Z</dcterms:created>
  <dcterms:modified xsi:type="dcterms:W3CDTF">2026-05-14T22:17:56Z</dcterms:modified>
</cp:coreProperties>
</file>